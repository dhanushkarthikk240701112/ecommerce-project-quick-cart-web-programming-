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818120" y="0"/>
            <a:ext cx="4370832" cy="6858000"/>
          </a:xfrm>
          <a:prstGeom prst="rect">
            <a:avLst/>
          </a:prstGeom>
          <a:solidFill>
            <a:srgbClr val="48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366760" y="658368"/>
            <a:ext cx="3246120" cy="932688"/>
          </a:xfrm>
          <a:prstGeom prst="roundRect">
            <a:avLst>
              <a:gd name="adj" fmla="val 12000"/>
            </a:avLst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887968" y="1847088"/>
            <a:ext cx="2240280" cy="932688"/>
          </a:xfrm>
          <a:prstGeom prst="roundRect">
            <a:avLst>
              <a:gd name="adj" fmla="val 12000"/>
            </a:avLst>
          </a:prstGeom>
          <a:solidFill>
            <a:srgbClr val="FF6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183879" y="3054096"/>
            <a:ext cx="2926080" cy="932688"/>
          </a:xfrm>
          <a:prstGeom prst="roundRect">
            <a:avLst>
              <a:gd name="adj" fmla="val 12000"/>
            </a:avLst>
          </a:prstGeom>
          <a:solidFill>
            <a:srgbClr val="FFC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887968" y="4279392"/>
            <a:ext cx="2514600" cy="9326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0080"/>
            <a:ext cx="61264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00BEAA"/>
                </a:solidFill>
                <a:latin typeface="Aptos"/>
              </a:rPr>
              <a:t>DEPARTMENT OF COMPUTER SCIENCE &amp;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00200"/>
            <a:ext cx="6492240" cy="12801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4600" b="1">
                <a:solidFill>
                  <a:srgbClr val="FFFFFF"/>
                </a:solidFill>
                <a:latin typeface="Aptos"/>
              </a:rPr>
              <a:t>QuickCart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852928"/>
            <a:ext cx="6309360" cy="7772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DEE6FA"/>
                </a:solidFill>
                <a:latin typeface="Aptos"/>
              </a:rPr>
              <a:t>Full Stack E-Commerce</a:t>
            </a:r>
          </a:p>
          <a:p>
            <a:pPr algn="l">
              <a:spcAft>
                <a:spcPts val="500"/>
              </a:spcAft>
            </a:pPr>
            <a:r>
              <a:rPr sz="2400" b="1">
                <a:solidFill>
                  <a:srgbClr val="DEE6FA"/>
                </a:solidFill>
                <a:latin typeface="Aptos"/>
              </a:rPr>
              <a:t>Web Application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4005072"/>
            <a:ext cx="914400" cy="64008"/>
          </a:xfrm>
          <a:prstGeom prst="rect">
            <a:avLst/>
          </a:prstGeom>
          <a:solidFill>
            <a:srgbClr val="FF6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4370832"/>
            <a:ext cx="6126480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FFC346"/>
                </a:solidFill>
                <a:latin typeface="Aptos"/>
              </a:rPr>
              <a:t>WEB PROGRAMMING COURSE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5532120"/>
            <a:ext cx="62179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Aptos"/>
              </a:rPr>
              <a:t>DHANUSH KARTHIK K  •  240701112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Aptos"/>
              </a:rPr>
              <a:t>III YEAR — COMPUTER SCIENCE &amp;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2296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>
                <a:solidFill>
                  <a:srgbClr val="636F85"/>
                </a:solidFill>
                <a:latin typeface="Aptos"/>
              </a:rPr>
              <a:t>QUICKCART • WEB PROGRAMMING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121B37"/>
                </a:solidFill>
                <a:latin typeface="Aptos"/>
              </a:rPr>
              <a:t>Project aim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43584"/>
            <a:ext cx="658368" cy="50292"/>
          </a:xfrm>
          <a:prstGeom prst="rect">
            <a:avLst/>
          </a:prstGeom>
          <a:solidFill>
            <a:srgbClr val="FF6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473952"/>
            <a:ext cx="96012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>
                <a:solidFill>
                  <a:srgbClr val="636F85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6675120" cy="3520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82296" cy="3520440"/>
          </a:xfrm>
          <a:prstGeom prst="roundRect">
            <a:avLst>
              <a:gd name="adj" fmla="val 12000"/>
            </a:avLst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764792"/>
            <a:ext cx="6309359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121B37"/>
                </a:solidFill>
                <a:latin typeface="Aptos"/>
              </a:rPr>
              <a:t>THE GOAL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167128"/>
            <a:ext cx="6309359" cy="28437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0">
                <a:solidFill>
                  <a:srgbClr val="636F85"/>
                </a:solidFill>
                <a:latin typeface="Aptos"/>
              </a:rPr>
              <a:t>Develop a secure, user-friendly online shopping platform that connects customer shopping journeys with centralized administration.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1600200"/>
            <a:ext cx="402336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543800" y="1600200"/>
            <a:ext cx="82296" cy="1508760"/>
          </a:xfrm>
          <a:prstGeom prst="roundRect">
            <a:avLst>
              <a:gd name="adj" fmla="val 12000"/>
            </a:avLst>
          </a:prstGeom>
          <a:solidFill>
            <a:srgbClr val="FF6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4968" y="1764792"/>
            <a:ext cx="36576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121B37"/>
                </a:solidFill>
                <a:latin typeface="Aptos"/>
              </a:rPr>
              <a:t>CUSTOMERS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4968" y="2167128"/>
            <a:ext cx="3657600" cy="832103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636F85"/>
                </a:solidFill>
                <a:latin typeface="Aptos"/>
              </a:rPr>
              <a:t>Discover products, manage carts, checkout and track orders.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3337560"/>
            <a:ext cx="402336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543800" y="3337560"/>
            <a:ext cx="82296" cy="1508760"/>
          </a:xfrm>
          <a:prstGeom prst="roundRect">
            <a:avLst>
              <a:gd name="adj" fmla="val 12000"/>
            </a:avLst>
          </a:prstGeom>
          <a:solidFill>
            <a:srgbClr val="48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3502152"/>
            <a:ext cx="36576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121B37"/>
                </a:solidFill>
                <a:latin typeface="Aptos"/>
              </a:rPr>
              <a:t>ADMINISTRATORS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3904487"/>
            <a:ext cx="3657600" cy="832103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636F85"/>
                </a:solidFill>
                <a:latin typeface="Aptos"/>
              </a:rPr>
              <a:t>Manage products, inventory, stock and customer orders.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486400"/>
            <a:ext cx="1078992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121B37"/>
                </a:solidFill>
                <a:latin typeface="Aptos"/>
              </a:rPr>
              <a:t>One connected workflow — from product discovery to order management.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2296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>
                <a:solidFill>
                  <a:srgbClr val="636F85"/>
                </a:solidFill>
                <a:latin typeface="Aptos"/>
              </a:rPr>
              <a:t>QUICKCART • WEB PROGRAMMING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121B37"/>
                </a:solidFill>
                <a:latin typeface="Aptos"/>
              </a:rPr>
              <a:t>Project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43584"/>
            <a:ext cx="658368" cy="50292"/>
          </a:xfrm>
          <a:prstGeom prst="rect">
            <a:avLst/>
          </a:prstGeom>
          <a:solidFill>
            <a:srgbClr val="FF6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473952"/>
            <a:ext cx="96012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>
                <a:solidFill>
                  <a:srgbClr val="636F85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3520440" cy="1627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801368"/>
            <a:ext cx="566928" cy="502920"/>
          </a:xfrm>
          <a:prstGeom prst="roundRect">
            <a:avLst>
              <a:gd name="adj" fmla="val 12000"/>
            </a:avLst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47088"/>
            <a:ext cx="566928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>
                <a:solidFill>
                  <a:srgbClr val="121B37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0472" y="1828800"/>
            <a:ext cx="237744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21B37"/>
                </a:solidFill>
                <a:latin typeface="Aptos"/>
              </a:rPr>
              <a:t>Responsive 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0472" y="2313432"/>
            <a:ext cx="2331720" cy="6583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636F85"/>
                </a:solidFill>
                <a:latin typeface="Aptos"/>
              </a:rPr>
              <a:t>HTML5, CSS3 and JavaScript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53128" y="1600200"/>
            <a:ext cx="3520440" cy="1627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36008" y="1801368"/>
            <a:ext cx="566928" cy="502920"/>
          </a:xfrm>
          <a:prstGeom prst="roundRect">
            <a:avLst>
              <a:gd name="adj" fmla="val 12000"/>
            </a:avLst>
          </a:prstGeom>
          <a:solidFill>
            <a:srgbClr val="FF6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8" y="1847088"/>
            <a:ext cx="566928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>
                <a:solidFill>
                  <a:srgbClr val="121B37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1828800"/>
            <a:ext cx="237744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21B37"/>
                </a:solidFill>
                <a:latin typeface="Aptos"/>
              </a:rPr>
              <a:t>Backend APIs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313432"/>
            <a:ext cx="2331720" cy="6583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636F85"/>
                </a:solidFill>
                <a:latin typeface="Aptos"/>
              </a:rPr>
              <a:t>Java, Spring Boot and REST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11896" y="1600200"/>
            <a:ext cx="3520440" cy="1627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94776" y="1801368"/>
            <a:ext cx="566928" cy="502920"/>
          </a:xfrm>
          <a:prstGeom prst="roundRect">
            <a:avLst>
              <a:gd name="adj" fmla="val 12000"/>
            </a:avLst>
          </a:prstGeom>
          <a:solidFill>
            <a:srgbClr val="48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94776" y="1847088"/>
            <a:ext cx="566928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>
                <a:solidFill>
                  <a:srgbClr val="121B37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08008" y="1828800"/>
            <a:ext cx="237744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21B37"/>
                </a:solidFill>
                <a:latin typeface="Aptos"/>
              </a:rPr>
              <a:t>Data persistence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8008" y="2313432"/>
            <a:ext cx="2331720" cy="6583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636F85"/>
                </a:solidFill>
                <a:latin typeface="Aptos"/>
              </a:rPr>
              <a:t>MySQL with Spring Data JPA / Hibernate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611880"/>
            <a:ext cx="3520440" cy="1627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77240" y="3813048"/>
            <a:ext cx="566928" cy="502920"/>
          </a:xfrm>
          <a:prstGeom prst="roundRect">
            <a:avLst>
              <a:gd name="adj" fmla="val 12000"/>
            </a:avLst>
          </a:prstGeom>
          <a:solidFill>
            <a:srgbClr val="FFC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858768"/>
            <a:ext cx="566928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>
                <a:solidFill>
                  <a:srgbClr val="121B37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90472" y="3840480"/>
            <a:ext cx="237744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21B37"/>
                </a:solidFill>
                <a:latin typeface="Aptos"/>
              </a:rPr>
              <a:t>Secure access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90472" y="4325112"/>
            <a:ext cx="2331720" cy="6583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636F85"/>
                </a:solidFill>
                <a:latin typeface="Aptos"/>
              </a:rPr>
              <a:t>Customer and administrator authentication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53128" y="3611880"/>
            <a:ext cx="3520440" cy="1627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636008" y="3813048"/>
            <a:ext cx="566928" cy="502920"/>
          </a:xfrm>
          <a:prstGeom prst="roundRect">
            <a:avLst>
              <a:gd name="adj" fmla="val 12000"/>
            </a:avLst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36008" y="3858768"/>
            <a:ext cx="566928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>
                <a:solidFill>
                  <a:srgbClr val="121B37"/>
                </a:solidFill>
                <a:latin typeface="Aptos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9240" y="3840480"/>
            <a:ext cx="237744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21B37"/>
                </a:solidFill>
                <a:latin typeface="Aptos"/>
              </a:rPr>
              <a:t>Shopping workflow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9240" y="4325112"/>
            <a:ext cx="2331720" cy="6583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636F85"/>
                </a:solidFill>
                <a:latin typeface="Aptos"/>
              </a:rPr>
              <a:t>Search, categories, cart, checkout and orders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11896" y="3611880"/>
            <a:ext cx="3520440" cy="1627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494776" y="3813048"/>
            <a:ext cx="566928" cy="502920"/>
          </a:xfrm>
          <a:prstGeom prst="roundRect">
            <a:avLst>
              <a:gd name="adj" fmla="val 12000"/>
            </a:avLst>
          </a:prstGeom>
          <a:solidFill>
            <a:srgbClr val="FF6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94776" y="3858768"/>
            <a:ext cx="566928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>
                <a:solidFill>
                  <a:srgbClr val="121B37"/>
                </a:solidFill>
                <a:latin typeface="Aptos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08008" y="3840480"/>
            <a:ext cx="237744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21B37"/>
                </a:solidFill>
                <a:latin typeface="Aptos"/>
              </a:rPr>
              <a:t>Admin operations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08008" y="4325112"/>
            <a:ext cx="2331720" cy="6583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636F85"/>
                </a:solidFill>
                <a:latin typeface="Aptos"/>
              </a:rPr>
              <a:t>Products, inventory, stock and orders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2296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>
                <a:solidFill>
                  <a:srgbClr val="636F85"/>
                </a:solidFill>
                <a:latin typeface="Aptos"/>
              </a:rPr>
              <a:t>QUICKCART • WEB PROGRAMMING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121B37"/>
                </a:solidFill>
                <a:latin typeface="Aptos"/>
              </a:rPr>
              <a:t>Abstract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43584"/>
            <a:ext cx="658368" cy="50292"/>
          </a:xfrm>
          <a:prstGeom prst="rect">
            <a:avLst/>
          </a:prstGeom>
          <a:solidFill>
            <a:srgbClr val="FF6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473952"/>
            <a:ext cx="96012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>
                <a:solidFill>
                  <a:srgbClr val="636F85"/>
                </a:solidFill>
                <a:latin typeface="Aptos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6492240" cy="34747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0">
                <a:solidFill>
                  <a:srgbClr val="1F2941"/>
                </a:solidFill>
                <a:latin typeface="Aptos"/>
              </a:rPr>
              <a:t>QuickCart is a full-stack e-commerce application designed to simplify online shopping through a centralized, responsive platform.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500"/>
              </a:spcAft>
            </a:pPr>
            <a:r>
              <a:rPr sz="1900" b="0">
                <a:solidFill>
                  <a:srgbClr val="1F2941"/>
                </a:solidFill>
                <a:latin typeface="Aptos"/>
              </a:rPr>
              <a:t>The frontend delivers interactive web pages; Java and Spring Boot handle business logic and REST APIs; MySQL stores users, products, carts, orders and related application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645920"/>
            <a:ext cx="384048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543800" y="1645920"/>
            <a:ext cx="82296" cy="1234440"/>
          </a:xfrm>
          <a:prstGeom prst="roundRect">
            <a:avLst>
              <a:gd name="adj" fmla="val 12000"/>
            </a:avLst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44968" y="1810512"/>
            <a:ext cx="34747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21B37"/>
                </a:solidFill>
                <a:latin typeface="Aptos"/>
              </a:rP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44968" y="2212848"/>
            <a:ext cx="3474720" cy="5577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636F85"/>
                </a:solidFill>
                <a:latin typeface="Aptos"/>
              </a:rPr>
              <a:t>HTML • CSS • JavaScript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3063240"/>
            <a:ext cx="384048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43800" y="3063240"/>
            <a:ext cx="82296" cy="1234440"/>
          </a:xfrm>
          <a:prstGeom prst="roundRect">
            <a:avLst>
              <a:gd name="adj" fmla="val 12000"/>
            </a:avLst>
          </a:prstGeom>
          <a:solidFill>
            <a:srgbClr val="FF6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3227832"/>
            <a:ext cx="34747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21B37"/>
                </a:solidFill>
                <a:latin typeface="Aptos"/>
              </a:rPr>
              <a:t>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3630168"/>
            <a:ext cx="3474720" cy="5577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636F85"/>
                </a:solidFill>
                <a:latin typeface="Aptos"/>
              </a:rPr>
              <a:t>Java • Spring Boot • REST APIs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4480560"/>
            <a:ext cx="384048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543800" y="4480560"/>
            <a:ext cx="82296" cy="1234440"/>
          </a:xfrm>
          <a:prstGeom prst="roundRect">
            <a:avLst>
              <a:gd name="adj" fmla="val 12000"/>
            </a:avLst>
          </a:prstGeom>
          <a:solidFill>
            <a:srgbClr val="48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44968" y="4645152"/>
            <a:ext cx="34747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21B37"/>
                </a:solidFill>
                <a:latin typeface="Aptos"/>
              </a:rPr>
              <a:t>DATABASE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44968" y="5047488"/>
            <a:ext cx="3474720" cy="5577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636F85"/>
                </a:solidFill>
                <a:latin typeface="Aptos"/>
              </a:rPr>
              <a:t>MySQL • JPA • Hibernate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2296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>
                <a:solidFill>
                  <a:srgbClr val="636F85"/>
                </a:solidFill>
                <a:latin typeface="Aptos"/>
              </a:rPr>
              <a:t>QUICKCART • WEB PROGRAMMING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121B37"/>
                </a:solidFill>
                <a:latin typeface="Aptos"/>
              </a:rPr>
              <a:t>Two experiences, one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43584"/>
            <a:ext cx="658368" cy="50292"/>
          </a:xfrm>
          <a:prstGeom prst="rect">
            <a:avLst/>
          </a:prstGeom>
          <a:solidFill>
            <a:srgbClr val="FF6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473952"/>
            <a:ext cx="96012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>
                <a:solidFill>
                  <a:srgbClr val="636F85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5349240" cy="4160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82296" cy="4160520"/>
          </a:xfrm>
          <a:prstGeom prst="roundRect">
            <a:avLst>
              <a:gd name="adj" fmla="val 12000"/>
            </a:avLst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764792"/>
            <a:ext cx="4983479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>
                <a:solidFill>
                  <a:srgbClr val="121B37"/>
                </a:solidFill>
                <a:latin typeface="Aptos"/>
              </a:rPr>
              <a:t>CUSTOMER WORKSPACE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167128"/>
            <a:ext cx="4983479" cy="3483863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636F85"/>
                </a:solidFill>
                <a:latin typeface="Aptos"/>
              </a:rPr>
              <a:t>Registration and login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636F85"/>
                </a:solidFill>
                <a:latin typeface="Aptos"/>
              </a:rPr>
              <a:t>Product browsing and search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636F85"/>
                </a:solidFill>
                <a:latin typeface="Aptos"/>
              </a:rPr>
              <a:t>Category filtering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636F85"/>
                </a:solidFill>
                <a:latin typeface="Aptos"/>
              </a:rPr>
              <a:t>Shopping cart and checkout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636F85"/>
                </a:solidFill>
                <a:latin typeface="Aptos"/>
              </a:rPr>
              <a:t>Order history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636F85"/>
                </a:solidFill>
                <a:latin typeface="Aptos"/>
              </a:rPr>
              <a:t>Profile management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00200"/>
            <a:ext cx="5349240" cy="4160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600200"/>
            <a:ext cx="82296" cy="4160520"/>
          </a:xfrm>
          <a:prstGeom prst="roundRect">
            <a:avLst>
              <a:gd name="adj" fmla="val 12000"/>
            </a:avLst>
          </a:prstGeom>
          <a:solidFill>
            <a:srgbClr val="FF6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764792"/>
            <a:ext cx="4983479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>
                <a:solidFill>
                  <a:srgbClr val="121B37"/>
                </a:solidFill>
                <a:latin typeface="Aptos"/>
              </a:rPr>
              <a:t>ADMIN WORKSPACE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167128"/>
            <a:ext cx="4983479" cy="3483863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636F85"/>
                </a:solidFill>
                <a:latin typeface="Aptos"/>
              </a:rPr>
              <a:t>Dashboard overview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636F85"/>
                </a:solidFill>
                <a:latin typeface="Aptos"/>
              </a:rPr>
              <a:t>Add, update and delete products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636F85"/>
                </a:solidFill>
                <a:latin typeface="Aptos"/>
              </a:rPr>
              <a:t>Inventory and stock management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636F85"/>
                </a:solidFill>
                <a:latin typeface="Aptos"/>
              </a:rPr>
              <a:t>Customer order management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636F85"/>
                </a:solidFill>
                <a:latin typeface="Aptos"/>
              </a:rPr>
              <a:t>Centralized operational controls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5925312"/>
            <a:ext cx="10241280" cy="320040"/>
          </a:xfrm>
          <a:prstGeom prst="roundRect">
            <a:avLst>
              <a:gd name="adj" fmla="val 12000"/>
            </a:avLst>
          </a:prstGeom>
          <a:solidFill>
            <a:srgbClr val="EB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5952744"/>
            <a:ext cx="98755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4869FF"/>
                </a:solidFill>
                <a:latin typeface="Aptos"/>
              </a:rPr>
              <a:t>Clear customer journeys + structured administration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2296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>
                <a:solidFill>
                  <a:srgbClr val="636F85"/>
                </a:solidFill>
                <a:latin typeface="Aptos"/>
              </a:rPr>
              <a:t>QUICKCART • WEB PROGRAMMING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121B37"/>
                </a:solidFill>
                <a:latin typeface="Aptos"/>
              </a:rPr>
              <a:t>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43584"/>
            <a:ext cx="658368" cy="50292"/>
          </a:xfrm>
          <a:prstGeom prst="rect">
            <a:avLst/>
          </a:prstGeom>
          <a:solidFill>
            <a:srgbClr val="FF6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473952"/>
            <a:ext cx="96012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>
                <a:solidFill>
                  <a:srgbClr val="636F85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100584" cy="100584"/>
          </a:xfrm>
          <a:prstGeom prst="roundRect">
            <a:avLst>
              <a:gd name="adj" fmla="val 12000"/>
            </a:avLst>
          </a:prstGeom>
          <a:solidFill>
            <a:srgbClr val="FF6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6695" y="1645920"/>
            <a:ext cx="10296144" cy="6858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>
                <a:solidFill>
                  <a:srgbClr val="1F2941"/>
                </a:solidFill>
                <a:latin typeface="Aptos"/>
              </a:rPr>
              <a:t>Small retailers may struggle to coordinate products, inventory, customers and orders.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468880"/>
            <a:ext cx="100584" cy="100584"/>
          </a:xfrm>
          <a:prstGeom prst="roundRect">
            <a:avLst>
              <a:gd name="adj" fmla="val 12000"/>
            </a:avLst>
          </a:prstGeom>
          <a:solidFill>
            <a:srgbClr val="FF6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5" y="2359152"/>
            <a:ext cx="10296144" cy="6858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>
                <a:solidFill>
                  <a:srgbClr val="1F2941"/>
                </a:solidFill>
                <a:latin typeface="Aptos"/>
              </a:rPr>
              <a:t>Manual records can cause inventory inaccuracies and delayed order processing.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182112"/>
            <a:ext cx="100584" cy="100584"/>
          </a:xfrm>
          <a:prstGeom prst="roundRect">
            <a:avLst>
              <a:gd name="adj" fmla="val 12000"/>
            </a:avLst>
          </a:prstGeom>
          <a:solidFill>
            <a:srgbClr val="FF6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6695" y="3072384"/>
            <a:ext cx="10296144" cy="6858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>
                <a:solidFill>
                  <a:srgbClr val="1F2941"/>
                </a:solidFill>
                <a:latin typeface="Aptos"/>
              </a:rPr>
              <a:t>Customers need one place to browse products, manage carts and place orders.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895344"/>
            <a:ext cx="100584" cy="100584"/>
          </a:xfrm>
          <a:prstGeom prst="roundRect">
            <a:avLst>
              <a:gd name="adj" fmla="val 12000"/>
            </a:avLst>
          </a:prstGeom>
          <a:solidFill>
            <a:srgbClr val="FF6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5" y="3785615"/>
            <a:ext cx="10296144" cy="6858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>
                <a:solidFill>
                  <a:srgbClr val="1F2941"/>
                </a:solidFill>
                <a:latin typeface="Aptos"/>
              </a:rPr>
              <a:t>Administrators need a structured interface for stock and order management.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074920"/>
            <a:ext cx="10698480" cy="749808"/>
          </a:xfrm>
          <a:prstGeom prst="roundRect">
            <a:avLst>
              <a:gd name="adj" fmla="val 12000"/>
            </a:avLst>
          </a:prstGeom>
          <a:solidFill>
            <a:srgbClr val="121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257800"/>
            <a:ext cx="1019556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QUICKCART RESPONSE   •   Integrate shopping, administration and data management.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2296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>
                <a:solidFill>
                  <a:srgbClr val="636F85"/>
                </a:solidFill>
                <a:latin typeface="Aptos"/>
              </a:rPr>
              <a:t>QUICKCART • WEB PROGRAMMING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121B37"/>
                </a:solidFill>
                <a:latin typeface="Aptos"/>
              </a:rPr>
              <a:t>HTML &amp; CSS 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43584"/>
            <a:ext cx="658368" cy="50292"/>
          </a:xfrm>
          <a:prstGeom prst="rect">
            <a:avLst/>
          </a:prstGeom>
          <a:solidFill>
            <a:srgbClr val="FF6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473952"/>
            <a:ext cx="96012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>
                <a:solidFill>
                  <a:srgbClr val="636F85"/>
                </a:solidFill>
                <a:latin typeface="Apto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507492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82296" cy="1417320"/>
          </a:xfrm>
          <a:prstGeom prst="roundRect">
            <a:avLst>
              <a:gd name="adj" fmla="val 12000"/>
            </a:avLst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764792"/>
            <a:ext cx="4709159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121B37"/>
                </a:solidFill>
                <a:latin typeface="Aptos"/>
              </a:rPr>
              <a:t>HTML5 — 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167128"/>
            <a:ext cx="4709159" cy="7406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636F85"/>
                </a:solidFill>
                <a:latin typeface="Aptos"/>
              </a:rPr>
              <a:t>Navigation, forms, buttons, product sections and semantic content.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246120"/>
            <a:ext cx="507492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3246120"/>
            <a:ext cx="82296" cy="1417320"/>
          </a:xfrm>
          <a:prstGeom prst="roundRect">
            <a:avLst>
              <a:gd name="adj" fmla="val 12000"/>
            </a:avLst>
          </a:prstGeom>
          <a:solidFill>
            <a:srgbClr val="FF6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3410712"/>
            <a:ext cx="4709159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121B37"/>
                </a:solidFill>
                <a:latin typeface="Aptos"/>
              </a:rPr>
              <a:t>CSS3 — PRESENTATION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3813048"/>
            <a:ext cx="4709159" cy="7406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636F85"/>
                </a:solidFill>
                <a:latin typeface="Aptos"/>
              </a:rPr>
              <a:t>Layout, spacing, cards, colors, typography and responsive styling.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892040"/>
            <a:ext cx="507492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4892040"/>
            <a:ext cx="82296" cy="1051560"/>
          </a:xfrm>
          <a:prstGeom prst="roundRect">
            <a:avLst>
              <a:gd name="adj" fmla="val 12000"/>
            </a:avLst>
          </a:prstGeom>
          <a:solidFill>
            <a:srgbClr val="48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5056631"/>
            <a:ext cx="4709159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21B37"/>
                </a:solidFill>
                <a:latin typeface="Aptos"/>
              </a:rPr>
              <a:t>RESPONSIVE 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" y="5458968"/>
            <a:ext cx="4709159" cy="374903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636F85"/>
                </a:solidFill>
                <a:latin typeface="Aptos"/>
              </a:rPr>
              <a:t>Desktop • laptop • tablet • mobile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0760" y="1600200"/>
            <a:ext cx="5303520" cy="4343400"/>
          </a:xfrm>
          <a:prstGeom prst="roundRect">
            <a:avLst>
              <a:gd name="adj" fmla="val 12000"/>
            </a:avLst>
          </a:prstGeom>
          <a:solidFill>
            <a:srgbClr val="121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874519"/>
            <a:ext cx="466344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00BEAA"/>
                </a:solidFill>
                <a:latin typeface="Aptos"/>
              </a:rPr>
              <a:t>REPRESENTATIVE HTML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514600"/>
            <a:ext cx="4572000" cy="2560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FFFFFF"/>
                </a:solidFill>
                <a:latin typeface="Consolas"/>
              </a:rPr>
              <a:t>&lt;form id="loginForm"&gt;\n  &lt;input type="email" required&gt;\n  &lt;input type="password" required&gt;\n  &lt;button type="submit"&gt;Login&lt;/button&gt;\n&lt;/form&gt;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03520"/>
            <a:ext cx="457200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D2DCF5"/>
                </a:solidFill>
                <a:latin typeface="Aptos"/>
              </a:rPr>
              <a:t>HTML defines structure; CSS shapes the experience.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2296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>
                <a:solidFill>
                  <a:srgbClr val="636F85"/>
                </a:solidFill>
                <a:latin typeface="Aptos"/>
              </a:rPr>
              <a:t>QUICKCART • WEB PROGRAMMING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121B37"/>
                </a:solidFill>
                <a:latin typeface="Aptos"/>
              </a:rPr>
              <a:t>JavaScript — DOM, events &amp; APIs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43584"/>
            <a:ext cx="658368" cy="50292"/>
          </a:xfrm>
          <a:prstGeom prst="rect">
            <a:avLst/>
          </a:prstGeom>
          <a:solidFill>
            <a:srgbClr val="FF6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473952"/>
            <a:ext cx="96012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>
                <a:solidFill>
                  <a:srgbClr val="636F85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01368"/>
            <a:ext cx="100584" cy="100584"/>
          </a:xfrm>
          <a:prstGeom prst="roundRect">
            <a:avLst>
              <a:gd name="adj" fmla="val 12000"/>
            </a:avLst>
          </a:prstGeom>
          <a:solidFill>
            <a:srgbClr val="48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691640"/>
            <a:ext cx="4535424" cy="7589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1F2941"/>
                </a:solidFill>
                <a:latin typeface="Aptos"/>
              </a:rPr>
              <a:t>Handle form submissions and user actions.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587752"/>
            <a:ext cx="100584" cy="100584"/>
          </a:xfrm>
          <a:prstGeom prst="roundRect">
            <a:avLst>
              <a:gd name="adj" fmla="val 12000"/>
            </a:avLst>
          </a:prstGeom>
          <a:solidFill>
            <a:srgbClr val="48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" y="2478024"/>
            <a:ext cx="4535424" cy="7589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1F2941"/>
                </a:solidFill>
                <a:latin typeface="Aptos"/>
              </a:rPr>
              <a:t>Validate inputs and update the page dynamically.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374136"/>
            <a:ext cx="100584" cy="100584"/>
          </a:xfrm>
          <a:prstGeom prst="roundRect">
            <a:avLst>
              <a:gd name="adj" fmla="val 12000"/>
            </a:avLst>
          </a:prstGeom>
          <a:solidFill>
            <a:srgbClr val="48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3264408"/>
            <a:ext cx="4535424" cy="7589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1F2941"/>
                </a:solidFill>
                <a:latin typeface="Aptos"/>
              </a:rPr>
              <a:t>Fetch data from backend REST services.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160520"/>
            <a:ext cx="100584" cy="100584"/>
          </a:xfrm>
          <a:prstGeom prst="roundRect">
            <a:avLst>
              <a:gd name="adj" fmla="val 12000"/>
            </a:avLst>
          </a:prstGeom>
          <a:solidFill>
            <a:srgbClr val="48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4050791"/>
            <a:ext cx="4535424" cy="7589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1F2941"/>
                </a:solidFill>
                <a:latin typeface="Aptos"/>
              </a:rPr>
              <a:t>Refresh product, cart and order information.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06440" y="1600200"/>
            <a:ext cx="5577840" cy="4526280"/>
          </a:xfrm>
          <a:prstGeom prst="roundRect">
            <a:avLst>
              <a:gd name="adj" fmla="val 12000"/>
            </a:avLst>
          </a:prstGeom>
          <a:solidFill>
            <a:srgbClr val="121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1874519"/>
            <a:ext cx="493776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FFC346"/>
                </a:solidFill>
                <a:latin typeface="Aptos"/>
              </a:rPr>
              <a:t>REPRESENTATIVE JAVASCRIPT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423160"/>
            <a:ext cx="4983480" cy="31089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Consolas"/>
              </a:rPr>
              <a:t>document.querySelector("#loginForm")\n  .addEventListener("submit", async (e) =&gt; {\n    e.preventDefault();\n    const response = await fetch("/api/login", {\n      method: "POST",\n      body: JSON.stringify({ email, password })\n    });\n    // update the interface with the response\n  });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852160"/>
            <a:ext cx="475488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636F85"/>
                </a:solidFill>
                <a:latin typeface="Aptos"/>
              </a:rPr>
              <a:t>Illustrative pattern for the reported frontend/API workflow.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2296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>
                <a:solidFill>
                  <a:srgbClr val="636F85"/>
                </a:solidFill>
                <a:latin typeface="Aptos"/>
              </a:rPr>
              <a:t>QUICKCART • WEB PROGRAMMING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121B37"/>
                </a:solidFill>
                <a:latin typeface="Aptos"/>
              </a:rPr>
              <a:t>User modules &amp; interfaces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43584"/>
            <a:ext cx="658368" cy="50292"/>
          </a:xfrm>
          <a:prstGeom prst="rect">
            <a:avLst/>
          </a:prstGeom>
          <a:solidFill>
            <a:srgbClr val="FF6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473952"/>
            <a:ext cx="96012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>
                <a:solidFill>
                  <a:srgbClr val="636F85"/>
                </a:solidFill>
                <a:latin typeface="Aptos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47548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00BEAA"/>
                </a:solidFill>
                <a:latin typeface="Aptos"/>
              </a:rPr>
              <a:t>CUSTOMER JOURNEY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57400"/>
            <a:ext cx="822960" cy="960120"/>
          </a:xfrm>
          <a:prstGeom prst="roundRect">
            <a:avLst>
              <a:gd name="adj" fmla="val 12000"/>
            </a:avLst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212848"/>
            <a:ext cx="82296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121B37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42032"/>
            <a:ext cx="9144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121B37"/>
                </a:solidFill>
                <a:latin typeface="Aptos"/>
              </a:rPr>
              <a:t>Browse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09928" y="2057400"/>
            <a:ext cx="822960" cy="960120"/>
          </a:xfrm>
          <a:prstGeom prst="roundRect">
            <a:avLst>
              <a:gd name="adj" fmla="val 12000"/>
            </a:avLst>
          </a:prstGeom>
          <a:solidFill>
            <a:srgbClr val="FF6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09928" y="2212848"/>
            <a:ext cx="82296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121B37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2542032"/>
            <a:ext cx="9144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121B37"/>
                </a:solidFill>
                <a:latin typeface="Aptos"/>
              </a:rPr>
              <a:t>Search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34056" y="2057400"/>
            <a:ext cx="822960" cy="960120"/>
          </a:xfrm>
          <a:prstGeom prst="roundRect">
            <a:avLst>
              <a:gd name="adj" fmla="val 12000"/>
            </a:avLst>
          </a:prstGeom>
          <a:solidFill>
            <a:srgbClr val="48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34056" y="2212848"/>
            <a:ext cx="82296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121B37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88336" y="2542032"/>
            <a:ext cx="9144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121B37"/>
                </a:solidFill>
                <a:latin typeface="Aptos"/>
              </a:rPr>
              <a:t>Cart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58184" y="2057400"/>
            <a:ext cx="822960" cy="960120"/>
          </a:xfrm>
          <a:prstGeom prst="roundRect">
            <a:avLst>
              <a:gd name="adj" fmla="val 12000"/>
            </a:avLst>
          </a:prstGeom>
          <a:solidFill>
            <a:srgbClr val="FFC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58184" y="2212848"/>
            <a:ext cx="82296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121B37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12464" y="2542032"/>
            <a:ext cx="9144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121B37"/>
                </a:solidFill>
                <a:latin typeface="Aptos"/>
              </a:rPr>
              <a:t>Checkout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82312" y="2057400"/>
            <a:ext cx="822960" cy="960120"/>
          </a:xfrm>
          <a:prstGeom prst="roundRect">
            <a:avLst>
              <a:gd name="adj" fmla="val 12000"/>
            </a:avLst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82312" y="2212848"/>
            <a:ext cx="82296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121B37"/>
                </a:solidFill>
                <a:latin typeface="Aptos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36592" y="2542032"/>
            <a:ext cx="9144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121B37"/>
                </a:solidFill>
                <a:latin typeface="Aptos"/>
              </a:rPr>
              <a:t>Orders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657600"/>
            <a:ext cx="489204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5800" y="3657600"/>
            <a:ext cx="82296" cy="1508760"/>
          </a:xfrm>
          <a:prstGeom prst="roundRect">
            <a:avLst>
              <a:gd name="adj" fmla="val 12000"/>
            </a:avLst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3822191"/>
            <a:ext cx="4526279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121B37"/>
                </a:solidFill>
                <a:latin typeface="Aptos"/>
              </a:rPr>
              <a:t>KEY CUSTOMER SCREENS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" y="4224528"/>
            <a:ext cx="4526279" cy="832103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636F85"/>
                </a:solidFill>
                <a:latin typeface="Aptos"/>
              </a:rPr>
              <a:t>Home page • Product listing • Shopping cart • Checkout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89320" y="1691640"/>
            <a:ext cx="525780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989320" y="1691640"/>
            <a:ext cx="82296" cy="1508760"/>
          </a:xfrm>
          <a:prstGeom prst="roundRect">
            <a:avLst>
              <a:gd name="adj" fmla="val 12000"/>
            </a:avLst>
          </a:prstGeom>
          <a:solidFill>
            <a:srgbClr val="FF6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90488" y="1856232"/>
            <a:ext cx="489204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121B37"/>
                </a:solidFill>
                <a:latin typeface="Aptos"/>
              </a:rPr>
              <a:t>ACCOUNT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90488" y="2258568"/>
            <a:ext cx="4892040" cy="832103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636F85"/>
                </a:solidFill>
                <a:latin typeface="Aptos"/>
              </a:rPr>
              <a:t>Registration • Login • Profile management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89320" y="3520440"/>
            <a:ext cx="525780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989320" y="3520440"/>
            <a:ext cx="82296" cy="1508760"/>
          </a:xfrm>
          <a:prstGeom prst="roundRect">
            <a:avLst>
              <a:gd name="adj" fmla="val 12000"/>
            </a:avLst>
          </a:prstGeom>
          <a:solidFill>
            <a:srgbClr val="48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90488" y="3685032"/>
            <a:ext cx="489204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121B37"/>
                </a:solidFill>
                <a:latin typeface="Aptos"/>
              </a:rPr>
              <a:t>ORDERING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90488" y="4087368"/>
            <a:ext cx="4892040" cy="832103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636F85"/>
                </a:solidFill>
                <a:latin typeface="Aptos"/>
              </a:rPr>
              <a:t>Cart • Checkout • Order history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89320" y="5349240"/>
            <a:ext cx="52578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989320" y="5349240"/>
            <a:ext cx="82296" cy="777240"/>
          </a:xfrm>
          <a:prstGeom prst="roundRect">
            <a:avLst>
              <a:gd name="adj" fmla="val 12000"/>
            </a:avLst>
          </a:prstGeom>
          <a:solidFill>
            <a:srgbClr val="FFC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90488" y="5513831"/>
            <a:ext cx="489204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121B37"/>
                </a:solidFill>
                <a:latin typeface="Aptos"/>
              </a:rPr>
              <a:t>ADMIN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90488" y="5916168"/>
            <a:ext cx="4892040" cy="100583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636F85"/>
                </a:solidFill>
                <a:latin typeface="Aptos"/>
              </a:rPr>
              <a:t>Dashboard • Products • Inventory • Orders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2296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>
                <a:solidFill>
                  <a:srgbClr val="636F85"/>
                </a:solidFill>
                <a:latin typeface="Aptos"/>
              </a:rPr>
              <a:t>QUICKCART • WEB PROGRAMMING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121B37"/>
                </a:solidFill>
                <a:latin typeface="Aptos"/>
              </a:rPr>
              <a:t>Methodology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43584"/>
            <a:ext cx="658368" cy="50292"/>
          </a:xfrm>
          <a:prstGeom prst="rect">
            <a:avLst/>
          </a:prstGeom>
          <a:solidFill>
            <a:srgbClr val="FF6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473952"/>
            <a:ext cx="96012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>
                <a:solidFill>
                  <a:srgbClr val="636F85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352044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1247" y="1783080"/>
            <a:ext cx="512064" cy="512064"/>
          </a:xfrm>
          <a:prstGeom prst="roundRect">
            <a:avLst>
              <a:gd name="adj" fmla="val 12000"/>
            </a:avLst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892807"/>
            <a:ext cx="512064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121B37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810512"/>
            <a:ext cx="233172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21B37"/>
                </a:solidFill>
                <a:latin typeface="Aptos"/>
              </a:rPr>
              <a:t>Requirement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295144"/>
            <a:ext cx="2331720" cy="7132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636F85"/>
                </a:solidFill>
                <a:latin typeface="Aptos"/>
              </a:rPr>
              <a:t>Customer/admin needs and functional requirements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98848" y="1600200"/>
            <a:ext cx="352044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700016" y="1783080"/>
            <a:ext cx="512064" cy="512064"/>
          </a:xfrm>
          <a:prstGeom prst="roundRect">
            <a:avLst>
              <a:gd name="adj" fmla="val 12000"/>
            </a:avLst>
          </a:prstGeom>
          <a:solidFill>
            <a:srgbClr val="FF6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0016" y="1892807"/>
            <a:ext cx="512064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121B37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67528" y="1810512"/>
            <a:ext cx="233172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21B37"/>
                </a:solidFill>
                <a:latin typeface="Aptos"/>
              </a:rPr>
              <a:t>System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67528" y="2295144"/>
            <a:ext cx="2331720" cy="7132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636F85"/>
                </a:solidFill>
                <a:latin typeface="Aptos"/>
              </a:rPr>
              <a:t>UI, modules, schema, APIs and three-tier architecture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57615" y="1600200"/>
            <a:ext cx="352044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558784" y="1783080"/>
            <a:ext cx="512064" cy="512064"/>
          </a:xfrm>
          <a:prstGeom prst="roundRect">
            <a:avLst>
              <a:gd name="adj" fmla="val 12000"/>
            </a:avLst>
          </a:prstGeom>
          <a:solidFill>
            <a:srgbClr val="48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58784" y="1892807"/>
            <a:ext cx="512064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121B37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6295" y="1810512"/>
            <a:ext cx="233172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21B37"/>
                </a:solidFill>
                <a:latin typeface="Aptos"/>
              </a:rPr>
              <a:t>Development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6295" y="2295144"/>
            <a:ext cx="2331720" cy="7132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636F85"/>
                </a:solidFill>
                <a:latin typeface="Aptos"/>
              </a:rPr>
              <a:t>HTML/CSS/JS, Spring Boot and MySQL integration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685031"/>
            <a:ext cx="352044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1247" y="3867911"/>
            <a:ext cx="512064" cy="512064"/>
          </a:xfrm>
          <a:prstGeom prst="roundRect">
            <a:avLst>
              <a:gd name="adj" fmla="val 12000"/>
            </a:avLst>
          </a:prstGeom>
          <a:solidFill>
            <a:srgbClr val="FFC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7" y="3977639"/>
            <a:ext cx="512064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121B37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3895344"/>
            <a:ext cx="233172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21B37"/>
                </a:solidFill>
                <a:latin typeface="Aptos"/>
              </a:rPr>
              <a:t>Testing &amp; debugging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4379975"/>
            <a:ext cx="2331720" cy="7132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636F85"/>
                </a:solidFill>
                <a:latin typeface="Aptos"/>
              </a:rPr>
              <a:t>Authentication, products, cart, checkout and APIs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98848" y="3685031"/>
            <a:ext cx="352044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700016" y="3867911"/>
            <a:ext cx="512064" cy="512064"/>
          </a:xfrm>
          <a:prstGeom prst="roundRect">
            <a:avLst>
              <a:gd name="adj" fmla="val 12000"/>
            </a:avLst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00016" y="3977639"/>
            <a:ext cx="512064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121B37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67528" y="3895344"/>
            <a:ext cx="233172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21B37"/>
                </a:solidFill>
                <a:latin typeface="Aptos"/>
              </a:rPr>
              <a:t>Deployment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67528" y="4379975"/>
            <a:ext cx="2331720" cy="7132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636F85"/>
                </a:solidFill>
                <a:latin typeface="Aptos"/>
              </a:rPr>
              <a:t>Run locally using Spring Boot embedded Tomcat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57615" y="3685031"/>
            <a:ext cx="352044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558784" y="3867911"/>
            <a:ext cx="512064" cy="512064"/>
          </a:xfrm>
          <a:prstGeom prst="roundRect">
            <a:avLst>
              <a:gd name="adj" fmla="val 12000"/>
            </a:avLst>
          </a:prstGeom>
          <a:solidFill>
            <a:srgbClr val="FF6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58784" y="3977639"/>
            <a:ext cx="512064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121B37"/>
                </a:solidFill>
                <a:latin typeface="Aptos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26295" y="3895344"/>
            <a:ext cx="233172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21B37"/>
                </a:solidFill>
                <a:latin typeface="Aptos"/>
              </a:rPr>
              <a:t>Documentation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26295" y="4379975"/>
            <a:ext cx="2331720" cy="7132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636F85"/>
                </a:solidFill>
                <a:latin typeface="Aptos"/>
              </a:rPr>
              <a:t>Requirements, architecture, implementation and tests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2296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>
                <a:solidFill>
                  <a:srgbClr val="636F85"/>
                </a:solidFill>
                <a:latin typeface="Aptos"/>
              </a:rPr>
              <a:t>QUICKCART • WEB PROGRAMMING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121B37"/>
                </a:solidFill>
                <a:latin typeface="Aptos"/>
              </a:rP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43584"/>
            <a:ext cx="658368" cy="50292"/>
          </a:xfrm>
          <a:prstGeom prst="rect">
            <a:avLst/>
          </a:prstGeom>
          <a:solidFill>
            <a:srgbClr val="FF6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473952"/>
            <a:ext cx="96012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>
                <a:solidFill>
                  <a:srgbClr val="636F85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600200"/>
            <a:ext cx="10332720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1600200"/>
            <a:ext cx="146304" cy="1024128"/>
          </a:xfrm>
          <a:prstGeom prst="roundRect">
            <a:avLst>
              <a:gd name="adj" fmla="val 12000"/>
            </a:avLst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1737360"/>
            <a:ext cx="27432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00BEAA"/>
                </a:solidFill>
                <a:latin typeface="Aptos"/>
              </a:rPr>
              <a:t>PRESENTATION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1719072"/>
            <a:ext cx="694944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21B37"/>
                </a:solidFill>
                <a:latin typeface="Aptos"/>
              </a:rPr>
              <a:t>HTML5 • CSS3 • JavaScript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2112264"/>
            <a:ext cx="694944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636F85"/>
                </a:solidFill>
                <a:latin typeface="Aptos"/>
              </a:rPr>
              <a:t>Home • Login • Products • Cart • Checkout • Orders • Profile • Admin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642615"/>
            <a:ext cx="164592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900" b="1">
                <a:solidFill>
                  <a:srgbClr val="636F85"/>
                </a:solidFill>
                <a:latin typeface="Aptos"/>
              </a:rPr>
              <a:t>↓  API / DATA FLOW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953512"/>
            <a:ext cx="10332720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4400" y="2953512"/>
            <a:ext cx="146304" cy="1024128"/>
          </a:xfrm>
          <a:prstGeom prst="roundRect">
            <a:avLst>
              <a:gd name="adj" fmla="val 12000"/>
            </a:avLst>
          </a:prstGeom>
          <a:solidFill>
            <a:srgbClr val="FF6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3090672"/>
            <a:ext cx="27432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FF6961"/>
                </a:solidFill>
                <a:latin typeface="Aptos"/>
              </a:rPr>
              <a:t>APPLICATION / BUSINESS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3072384"/>
            <a:ext cx="694944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21B37"/>
                </a:solidFill>
                <a:latin typeface="Aptos"/>
              </a:rPr>
              <a:t>Java • Spring Boot • RESTful APIs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3465576"/>
            <a:ext cx="694944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636F85"/>
                </a:solidFill>
                <a:latin typeface="Aptos"/>
              </a:rPr>
              <a:t>Authentication • Product management • Cart • Checkout • Orders • Inventory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995928"/>
            <a:ext cx="164592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900" b="1">
                <a:solidFill>
                  <a:srgbClr val="636F85"/>
                </a:solidFill>
                <a:latin typeface="Aptos"/>
              </a:rPr>
              <a:t>↓  API / DATA FLOW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306824"/>
            <a:ext cx="10332720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4400" y="4306824"/>
            <a:ext cx="146304" cy="1024128"/>
          </a:xfrm>
          <a:prstGeom prst="roundRect">
            <a:avLst>
              <a:gd name="adj" fmla="val 12000"/>
            </a:avLst>
          </a:prstGeom>
          <a:solidFill>
            <a:srgbClr val="48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4440" y="4443984"/>
            <a:ext cx="27432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4869FF"/>
                </a:solidFill>
                <a:latin typeface="Aptos"/>
              </a:rPr>
              <a:t>DATABASE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4425696"/>
            <a:ext cx="694944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21B37"/>
                </a:solidFill>
                <a:latin typeface="Aptos"/>
              </a:rPr>
              <a:t>MySQL • Spring Data JPA • Hibernate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4818888"/>
            <a:ext cx="694944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636F85"/>
                </a:solidFill>
                <a:latin typeface="Aptos"/>
              </a:rPr>
              <a:t>Users • Products • Categories • Carts • Orders • Administrators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925312"/>
            <a:ext cx="1024128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121B37"/>
                </a:solidFill>
                <a:latin typeface="Aptos"/>
              </a:rPr>
              <a:t>Three-tier separation supports maintainability, scalability and clear responsibilities.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2296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>
                <a:solidFill>
                  <a:srgbClr val="636F85"/>
                </a:solidFill>
                <a:latin typeface="Aptos"/>
              </a:rPr>
              <a:t>QUICKCART • WEB PROGRAMMING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121B37"/>
                </a:solidFill>
                <a:latin typeface="Aptos"/>
              </a:rPr>
              <a:t>Technologies used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43584"/>
            <a:ext cx="658368" cy="50292"/>
          </a:xfrm>
          <a:prstGeom prst="rect">
            <a:avLst/>
          </a:prstGeom>
          <a:solidFill>
            <a:srgbClr val="FF6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473952"/>
            <a:ext cx="96012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>
                <a:solidFill>
                  <a:srgbClr val="636F85"/>
                </a:solidFill>
                <a:latin typeface="Aptos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2560320" cy="1645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2560320" cy="118872"/>
          </a:xfrm>
          <a:prstGeom prst="roundRect">
            <a:avLst>
              <a:gd name="adj" fmla="val 12000"/>
            </a:avLst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956816"/>
            <a:ext cx="224028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21B37"/>
                </a:solidFill>
                <a:latin typeface="Aptos"/>
              </a:rPr>
              <a:t>HTML5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450592"/>
            <a:ext cx="2194560" cy="6217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636F85"/>
                </a:solidFill>
                <a:latin typeface="Aptos"/>
              </a:rPr>
              <a:t>Page structure, navigation and forms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39" y="1645920"/>
            <a:ext cx="2560320" cy="1645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20439" y="1645920"/>
            <a:ext cx="2560320" cy="118872"/>
          </a:xfrm>
          <a:prstGeom prst="roundRect">
            <a:avLst>
              <a:gd name="adj" fmla="val 12000"/>
            </a:avLst>
          </a:prstGeom>
          <a:solidFill>
            <a:srgbClr val="FF6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85031" y="1956816"/>
            <a:ext cx="224028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21B37"/>
                </a:solidFill>
                <a:latin typeface="Aptos"/>
              </a:rPr>
              <a:t>CSS3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5031" y="2450592"/>
            <a:ext cx="2194560" cy="6217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636F85"/>
                </a:solidFill>
                <a:latin typeface="Aptos"/>
              </a:rPr>
              <a:t>Responsive layouts and visual styling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645920"/>
            <a:ext cx="2560320" cy="1645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0" y="1645920"/>
            <a:ext cx="2560320" cy="118872"/>
          </a:xfrm>
          <a:prstGeom prst="roundRect">
            <a:avLst>
              <a:gd name="adj" fmla="val 12000"/>
            </a:avLst>
          </a:prstGeom>
          <a:solidFill>
            <a:srgbClr val="48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1956816"/>
            <a:ext cx="224028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21B37"/>
                </a:solidFill>
                <a:latin typeface="Aptos"/>
              </a:rPr>
              <a:t>JavaScript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2450592"/>
            <a:ext cx="2194560" cy="6217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636F85"/>
                </a:solidFill>
                <a:latin typeface="Aptos"/>
              </a:rPr>
              <a:t>DOM events, validation and API interaction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81159" y="1645920"/>
            <a:ext cx="2560320" cy="1645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281159" y="1645920"/>
            <a:ext cx="2560320" cy="118872"/>
          </a:xfrm>
          <a:prstGeom prst="roundRect">
            <a:avLst>
              <a:gd name="adj" fmla="val 12000"/>
            </a:avLst>
          </a:prstGeom>
          <a:solidFill>
            <a:srgbClr val="FFC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45751" y="1956816"/>
            <a:ext cx="224028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21B37"/>
                </a:solidFill>
                <a:latin typeface="Aptos"/>
              </a:rPr>
              <a:t>Java + Spring Boot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45751" y="2450592"/>
            <a:ext cx="2194560" cy="6217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636F85"/>
                </a:solidFill>
                <a:latin typeface="Aptos"/>
              </a:rPr>
              <a:t>Backend business logic and REST services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703320"/>
            <a:ext cx="2560320" cy="1645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" y="3703320"/>
            <a:ext cx="2560320" cy="118872"/>
          </a:xfrm>
          <a:prstGeom prst="roundRect">
            <a:avLst>
              <a:gd name="adj" fmla="val 12000"/>
            </a:avLst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1" y="4014215"/>
            <a:ext cx="224028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21B37"/>
                </a:solidFill>
                <a:latin typeface="Aptos"/>
              </a:rPr>
              <a:t>MySQL + JPA / Hibernate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" y="4507992"/>
            <a:ext cx="2194560" cy="6217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636F85"/>
                </a:solidFill>
                <a:latin typeface="Aptos"/>
              </a:rPr>
              <a:t>Relational data storage and persistence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20439" y="3703320"/>
            <a:ext cx="2560320" cy="1645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520439" y="3703320"/>
            <a:ext cx="2560320" cy="118872"/>
          </a:xfrm>
          <a:prstGeom prst="roundRect">
            <a:avLst>
              <a:gd name="adj" fmla="val 12000"/>
            </a:avLst>
          </a:prstGeom>
          <a:solidFill>
            <a:srgbClr val="FF6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85031" y="4014215"/>
            <a:ext cx="224028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21B37"/>
                </a:solidFill>
                <a:latin typeface="Aptos"/>
              </a:rPr>
              <a:t>Postman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85031" y="4507992"/>
            <a:ext cx="2194560" cy="6217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636F85"/>
                </a:solidFill>
                <a:latin typeface="Aptos"/>
              </a:rPr>
              <a:t>REST API testing and validation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3703320"/>
            <a:ext cx="2560320" cy="1645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400800" y="3703320"/>
            <a:ext cx="2560320" cy="118872"/>
          </a:xfrm>
          <a:prstGeom prst="roundRect">
            <a:avLst>
              <a:gd name="adj" fmla="val 12000"/>
            </a:avLst>
          </a:prstGeom>
          <a:solidFill>
            <a:srgbClr val="48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65392" y="4014215"/>
            <a:ext cx="224028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21B37"/>
                </a:solidFill>
                <a:latin typeface="Aptos"/>
              </a:rPr>
              <a:t>VS Code / STS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65392" y="4507992"/>
            <a:ext cx="2194560" cy="6217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636F85"/>
                </a:solidFill>
                <a:latin typeface="Aptos"/>
              </a:rPr>
              <a:t>Development and debugging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81159" y="3703320"/>
            <a:ext cx="2560320" cy="1645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281159" y="3703320"/>
            <a:ext cx="2560320" cy="118872"/>
          </a:xfrm>
          <a:prstGeom prst="roundRect">
            <a:avLst>
              <a:gd name="adj" fmla="val 12000"/>
            </a:avLst>
          </a:prstGeom>
          <a:solidFill>
            <a:srgbClr val="FFC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45751" y="4014215"/>
            <a:ext cx="224028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21B37"/>
                </a:solidFill>
                <a:latin typeface="Aptos"/>
              </a:rPr>
              <a:t>Git / GitHub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45751" y="4507992"/>
            <a:ext cx="2194560" cy="6217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636F85"/>
                </a:solidFill>
                <a:latin typeface="Aptos"/>
              </a:rPr>
              <a:t>Version control and source management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" y="5897880"/>
            <a:ext cx="10607040" cy="347472"/>
          </a:xfrm>
          <a:prstGeom prst="roundRect">
            <a:avLst>
              <a:gd name="adj" fmla="val 12000"/>
            </a:avLst>
          </a:prstGeom>
          <a:solidFill>
            <a:srgbClr val="121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952744"/>
            <a:ext cx="1033272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FRONTEND  HTML / CSS / JS     •     BACKEND  JAVA / SPRING BOOT     •     DATABASE  MYSQL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914400"/>
            <a:ext cx="146304" cy="4389120"/>
          </a:xfrm>
          <a:prstGeom prst="roundRect">
            <a:avLst>
              <a:gd name="adj" fmla="val 12000"/>
            </a:avLst>
          </a:prstGeom>
          <a:solidFill>
            <a:srgbClr val="FF6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325880"/>
            <a:ext cx="9601200" cy="9144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42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560320"/>
            <a:ext cx="9601200" cy="5486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00BEAA"/>
                </a:solidFill>
                <a:latin typeface="Aptos"/>
              </a:rPr>
              <a:t>QuickCart — Full Stack E-Commerce Web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383280"/>
            <a:ext cx="8961120" cy="8229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>
                <a:solidFill>
                  <a:srgbClr val="D8E1F7"/>
                </a:solidFill>
                <a:latin typeface="Aptos"/>
              </a:rPr>
              <a:t>Questions &amp; discussion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4892040"/>
            <a:ext cx="1920240" cy="438912"/>
          </a:xfrm>
          <a:prstGeom prst="roundRect">
            <a:avLst>
              <a:gd name="adj" fmla="val 12000"/>
            </a:avLst>
          </a:prstGeom>
          <a:solidFill>
            <a:srgbClr val="48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98448" y="5001768"/>
            <a:ext cx="169164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WEB PROGRAMMING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5989320"/>
            <a:ext cx="73152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BECAE6"/>
                </a:solidFill>
                <a:latin typeface="Aptos"/>
              </a:rPr>
              <a:t>DHANUSH KARTHIK K  •  240701112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